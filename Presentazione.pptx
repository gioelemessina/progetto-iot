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ELE MESSINA" userId="838d68a1-1623-4dd1-ba9e-ef88acb7c4be" providerId="ADAL" clId="{3443F44E-F3BE-4654-AA90-C75125CFE473}"/>
    <pc:docChg chg="undo custSel modSld">
      <pc:chgData name="GIOELE MESSINA" userId="838d68a1-1623-4dd1-ba9e-ef88acb7c4be" providerId="ADAL" clId="{3443F44E-F3BE-4654-AA90-C75125CFE473}" dt="2026-09-16T11:06:00.578" v="78" actId="1440"/>
      <pc:docMkLst>
        <pc:docMk/>
      </pc:docMkLst>
      <pc:sldChg chg="addSp delSp modSp mod">
        <pc:chgData name="GIOELE MESSINA" userId="838d68a1-1623-4dd1-ba9e-ef88acb7c4be" providerId="ADAL" clId="{3443F44E-F3BE-4654-AA90-C75125CFE473}" dt="2026-09-16T11:06:00.578" v="78" actId="1440"/>
        <pc:sldMkLst>
          <pc:docMk/>
          <pc:sldMk cId="3787506018" sldId="257"/>
        </pc:sldMkLst>
        <pc:spChg chg="mod">
          <ac:chgData name="GIOELE MESSINA" userId="838d68a1-1623-4dd1-ba9e-ef88acb7c4be" providerId="ADAL" clId="{3443F44E-F3BE-4654-AA90-C75125CFE473}" dt="2026-09-12T16:25:33.201" v="5" actId="1076"/>
          <ac:spMkLst>
            <pc:docMk/>
            <pc:sldMk cId="3787506018" sldId="257"/>
            <ac:spMk id="10" creationId="{3CCD88E9-6581-F6F2-129B-71FFFD5E9F08}"/>
          </ac:spMkLst>
        </pc:spChg>
        <pc:picChg chg="add del mod">
          <ac:chgData name="GIOELE MESSINA" userId="838d68a1-1623-4dd1-ba9e-ef88acb7c4be" providerId="ADAL" clId="{3443F44E-F3BE-4654-AA90-C75125CFE473}" dt="2026-09-16T11:05:37.746" v="71" actId="478"/>
          <ac:picMkLst>
            <pc:docMk/>
            <pc:sldMk cId="3787506018" sldId="257"/>
            <ac:picMk id="7" creationId="{9D829844-CC3C-6218-025B-30E6A98C00AF}"/>
          </ac:picMkLst>
        </pc:picChg>
        <pc:picChg chg="del">
          <ac:chgData name="GIOELE MESSINA" userId="838d68a1-1623-4dd1-ba9e-ef88acb7c4be" providerId="ADAL" clId="{3443F44E-F3BE-4654-AA90-C75125CFE473}" dt="2026-09-16T11:05:08.063" v="65" actId="478"/>
          <ac:picMkLst>
            <pc:docMk/>
            <pc:sldMk cId="3787506018" sldId="257"/>
            <ac:picMk id="8" creationId="{44C3B9A8-EB08-8653-75A9-FA54A5130642}"/>
          </ac:picMkLst>
        </pc:picChg>
        <pc:picChg chg="add mod">
          <ac:chgData name="GIOELE MESSINA" userId="838d68a1-1623-4dd1-ba9e-ef88acb7c4be" providerId="ADAL" clId="{3443F44E-F3BE-4654-AA90-C75125CFE473}" dt="2026-09-16T11:06:00.578" v="78" actId="1440"/>
          <ac:picMkLst>
            <pc:docMk/>
            <pc:sldMk cId="3787506018" sldId="257"/>
            <ac:picMk id="11" creationId="{FA9A00D9-55E6-D16C-BAB9-4419EC75C715}"/>
          </ac:picMkLst>
        </pc:picChg>
      </pc:sldChg>
      <pc:sldChg chg="modSp mod">
        <pc:chgData name="GIOELE MESSINA" userId="838d68a1-1623-4dd1-ba9e-ef88acb7c4be" providerId="ADAL" clId="{3443F44E-F3BE-4654-AA90-C75125CFE473}" dt="2026-09-16T11:00:36.260" v="59" actId="1076"/>
        <pc:sldMkLst>
          <pc:docMk/>
          <pc:sldMk cId="3622977112" sldId="258"/>
        </pc:sldMkLst>
        <pc:picChg chg="mod">
          <ac:chgData name="GIOELE MESSINA" userId="838d68a1-1623-4dd1-ba9e-ef88acb7c4be" providerId="ADAL" clId="{3443F44E-F3BE-4654-AA90-C75125CFE473}" dt="2026-09-16T11:00:36.260" v="59" actId="1076"/>
          <ac:picMkLst>
            <pc:docMk/>
            <pc:sldMk cId="3622977112" sldId="258"/>
            <ac:picMk id="7" creationId="{3F060AB7-E564-4DCD-AD89-7FF1482F3038}"/>
          </ac:picMkLst>
        </pc:picChg>
      </pc:sldChg>
      <pc:sldChg chg="addSp delSp modSp mod">
        <pc:chgData name="GIOELE MESSINA" userId="838d68a1-1623-4dd1-ba9e-ef88acb7c4be" providerId="ADAL" clId="{3443F44E-F3BE-4654-AA90-C75125CFE473}" dt="2026-09-16T11:02:12.505" v="64" actId="1076"/>
        <pc:sldMkLst>
          <pc:docMk/>
          <pc:sldMk cId="1326727504" sldId="259"/>
        </pc:sldMkLst>
        <pc:picChg chg="add mod">
          <ac:chgData name="GIOELE MESSINA" userId="838d68a1-1623-4dd1-ba9e-ef88acb7c4be" providerId="ADAL" clId="{3443F44E-F3BE-4654-AA90-C75125CFE473}" dt="2026-09-16T11:02:12.505" v="64" actId="1076"/>
          <ac:picMkLst>
            <pc:docMk/>
            <pc:sldMk cId="1326727504" sldId="259"/>
            <ac:picMk id="4" creationId="{CB67E95B-7856-8A62-7C1F-8505406CD711}"/>
          </ac:picMkLst>
        </pc:picChg>
        <pc:picChg chg="del">
          <ac:chgData name="GIOELE MESSINA" userId="838d68a1-1623-4dd1-ba9e-ef88acb7c4be" providerId="ADAL" clId="{3443F44E-F3BE-4654-AA90-C75125CFE473}" dt="2026-09-16T11:02:05.094" v="60" actId="478"/>
          <ac:picMkLst>
            <pc:docMk/>
            <pc:sldMk cId="1326727504" sldId="259"/>
            <ac:picMk id="8" creationId="{BA626DB1-6610-D20E-6132-BA90B70FC817}"/>
          </ac:picMkLst>
        </pc:picChg>
      </pc:sldChg>
      <pc:sldChg chg="addSp delSp modSp mod">
        <pc:chgData name="GIOELE MESSINA" userId="838d68a1-1623-4dd1-ba9e-ef88acb7c4be" providerId="ADAL" clId="{3443F44E-F3BE-4654-AA90-C75125CFE473}" dt="2026-09-12T16:35:04.089" v="55" actId="1076"/>
        <pc:sldMkLst>
          <pc:docMk/>
          <pc:sldMk cId="1162923543" sldId="264"/>
        </pc:sldMkLst>
        <pc:picChg chg="add mod ord">
          <ac:chgData name="GIOELE MESSINA" userId="838d68a1-1623-4dd1-ba9e-ef88acb7c4be" providerId="ADAL" clId="{3443F44E-F3BE-4654-AA90-C75125CFE473}" dt="2026-09-12T16:35:04.089" v="55" actId="1076"/>
          <ac:picMkLst>
            <pc:docMk/>
            <pc:sldMk cId="1162923543" sldId="264"/>
            <ac:picMk id="9" creationId="{8E2E309F-522D-296B-AA06-99E1C382A0DA}"/>
          </ac:picMkLst>
        </pc:picChg>
        <pc:picChg chg="add del mod">
          <ac:chgData name="GIOELE MESSINA" userId="838d68a1-1623-4dd1-ba9e-ef88acb7c4be" providerId="ADAL" clId="{3443F44E-F3BE-4654-AA90-C75125CFE473}" dt="2026-09-12T16:34:56.198" v="51" actId="1076"/>
          <ac:picMkLst>
            <pc:docMk/>
            <pc:sldMk cId="1162923543" sldId="264"/>
            <ac:picMk id="12" creationId="{C2A1BE12-FE61-30E3-49FE-B5BF6C364C10}"/>
          </ac:picMkLst>
        </pc:picChg>
        <pc:picChg chg="add del mod">
          <ac:chgData name="GIOELE MESSINA" userId="838d68a1-1623-4dd1-ba9e-ef88acb7c4be" providerId="ADAL" clId="{3443F44E-F3BE-4654-AA90-C75125CFE473}" dt="2026-09-12T16:35:02.122" v="54" actId="1076"/>
          <ac:picMkLst>
            <pc:docMk/>
            <pc:sldMk cId="1162923543" sldId="264"/>
            <ac:picMk id="14" creationId="{36C28F7A-DC6D-4364-3752-81568D4DAEF2}"/>
          </ac:picMkLst>
        </pc:picChg>
      </pc:sldChg>
      <pc:sldChg chg="modSp mod">
        <pc:chgData name="GIOELE MESSINA" userId="838d68a1-1623-4dd1-ba9e-ef88acb7c4be" providerId="ADAL" clId="{3443F44E-F3BE-4654-AA90-C75125CFE473}" dt="2026-09-16T10:59:45.555" v="56" actId="115"/>
        <pc:sldMkLst>
          <pc:docMk/>
          <pc:sldMk cId="3286067679" sldId="265"/>
        </pc:sldMkLst>
        <pc:spChg chg="mod">
          <ac:chgData name="GIOELE MESSINA" userId="838d68a1-1623-4dd1-ba9e-ef88acb7c4be" providerId="ADAL" clId="{3443F44E-F3BE-4654-AA90-C75125CFE473}" dt="2026-09-16T10:59:45.555" v="56" actId="115"/>
          <ac:spMkLst>
            <pc:docMk/>
            <pc:sldMk cId="3286067679" sldId="265"/>
            <ac:spMk id="10" creationId="{A6BAD484-A417-3B91-F013-B824EBC03025}"/>
          </ac:spMkLst>
        </pc:spChg>
      </pc:sldChg>
      <pc:sldChg chg="modSp mod">
        <pc:chgData name="GIOELE MESSINA" userId="838d68a1-1623-4dd1-ba9e-ef88acb7c4be" providerId="ADAL" clId="{3443F44E-F3BE-4654-AA90-C75125CFE473}" dt="2026-09-16T10:59:50.710" v="57" actId="115"/>
        <pc:sldMkLst>
          <pc:docMk/>
          <pc:sldMk cId="1576215538" sldId="266"/>
        </pc:sldMkLst>
        <pc:spChg chg="mod">
          <ac:chgData name="GIOELE MESSINA" userId="838d68a1-1623-4dd1-ba9e-ef88acb7c4be" providerId="ADAL" clId="{3443F44E-F3BE-4654-AA90-C75125CFE473}" dt="2026-09-16T10:59:50.710" v="57" actId="115"/>
          <ac:spMkLst>
            <pc:docMk/>
            <pc:sldMk cId="1576215538" sldId="266"/>
            <ac:spMk id="4" creationId="{7D9A50F4-2102-473C-FAA2-C168E17DC3EC}"/>
          </ac:spMkLst>
        </pc:spChg>
      </pc:sldChg>
      <pc:sldChg chg="modSp mod">
        <pc:chgData name="GIOELE MESSINA" userId="838d68a1-1623-4dd1-ba9e-ef88acb7c4be" providerId="ADAL" clId="{3443F44E-F3BE-4654-AA90-C75125CFE473}" dt="2026-09-11T09:30:00.843" v="4" actId="1076"/>
        <pc:sldMkLst>
          <pc:docMk/>
          <pc:sldMk cId="4026459329" sldId="268"/>
        </pc:sldMkLst>
        <pc:spChg chg="mod">
          <ac:chgData name="GIOELE MESSINA" userId="838d68a1-1623-4dd1-ba9e-ef88acb7c4be" providerId="ADAL" clId="{3443F44E-F3BE-4654-AA90-C75125CFE473}" dt="2026-09-11T09:30:00.843" v="4" actId="1076"/>
          <ac:spMkLst>
            <pc:docMk/>
            <pc:sldMk cId="4026459329" sldId="268"/>
            <ac:spMk id="6" creationId="{6E8B2021-7D78-9A7D-A28C-B1067FDD65E5}"/>
          </ac:spMkLst>
        </pc:spChg>
        <pc:picChg chg="mod">
          <ac:chgData name="GIOELE MESSINA" userId="838d68a1-1623-4dd1-ba9e-ef88acb7c4be" providerId="ADAL" clId="{3443F44E-F3BE-4654-AA90-C75125CFE473}" dt="2026-09-11T09:29:57.705" v="3" actId="1076"/>
          <ac:picMkLst>
            <pc:docMk/>
            <pc:sldMk cId="4026459329" sldId="268"/>
            <ac:picMk id="7" creationId="{E2B4BCC4-FF3F-33FD-695B-837E0FE4558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20AE6-C922-42D6-86B5-7BA0A405F43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C568A-58D4-47A5-90C1-CE695C156D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770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C568A-58D4-47A5-90C1-CE695C156DA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398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FA420-43CF-4E1F-E691-266CA4898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67DA9FD-4A45-EA85-D07C-C392CA882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7FB167-F273-7008-EF5B-E79395C7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F4AA6D-7551-59F0-1EDD-A5B7B6091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EEFB51-19DC-612E-A7D4-3627EAB6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012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C1772C-22A8-FA59-FEA2-2ABFF74D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9FFAD7-6804-6984-2685-96AC3857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EA9975-5096-1005-CE58-19AECC12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184168-966C-C8CC-2203-F1CEB3AB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50833A-196E-BB59-7192-67F4F136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38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A9B3C-5E8C-86C7-2134-0981A01F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53D425-96FF-2B98-5753-5A2ED8631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33AFC4-86F0-BE49-740D-AC71A928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6320FE-A847-6463-B999-B9639AC3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CB49BA-551B-389D-B685-A17EB7F8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35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827BCB-5A7B-E23D-DF0E-B87A4C52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EE5C71-BD96-580B-6D60-A3C792232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C7FCE6-151D-F673-7377-EF780E88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A87BD8-41BF-1C9F-AE84-6C780853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ABB8C55-264F-76C4-686E-DA9D70AB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8D70D3-C904-19D8-C594-B9DBBB81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0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1C215C-86BB-E740-BD46-1479EBA1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D5945B-7A0B-87EB-34B1-E012A00CB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515AF8-BF67-A8DF-F6A3-1CECA6037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85E6A38-C4D3-ED79-2CE4-70569F83A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6EFAEF0-8AD1-B541-2108-9A847C615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602BD7D-0393-0061-EF7C-96C680F9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4C59264-E00D-1003-E799-DED00750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12AD7A3-816A-7246-5F5A-5D8B90DF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67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F8E3B2-8FB7-2857-2D8A-87E456AF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A0EC2A4-CE98-BCD4-EBB7-FD0D5359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AD1F7D-CED4-84C2-5A52-D1823DD7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8F8EDB3-49FA-022D-35DB-6C4A439E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8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807E8C7-757C-010E-F431-E1342882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56C5959-FD22-F28F-2E62-1CDD62A3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DDD9BD-61AC-CCAE-5903-857BC0BB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27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4DF2C-2679-15FD-467F-7D98EA75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3E43CD-DA0B-0FE8-EEDA-659A7A8C8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2CB828-17DE-97AB-53A2-182C9C5C6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44323C-001B-1D16-B575-D89F95CF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1449FA-BA07-4482-C95C-67A0BA75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28FFE0E-501B-646B-06FB-F652D0B6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204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82A91-B3F3-48D9-3322-51A1FC84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4E48906-2A94-3DE7-7B63-F2541C314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3FF497E-DF47-62AA-9B12-881E0C5D9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369E14-1C38-CB10-D670-928E5E4D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DAA852-76A5-9AB9-35B3-3858F9D5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809AD7-78B7-FA37-2274-CD971B49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2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FD38EE-E5FE-15EE-F5C4-DA0955BF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540AAB9-F73F-C6A2-1AEA-5D5A6D29A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870E6D-72DE-EF5D-AE7F-712AA955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91E137-7FD5-006F-8492-CA30485E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FA569A-5C8A-D8BB-C7C0-88AE806E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416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361B325-44B1-7EB2-DB13-0262FE110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2288F1-EA45-E4EF-8C14-C773A2711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0B8943-584F-92DE-8D89-5D2CFBF0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0D5DC9-4CCD-FCFA-17AD-A6C012BE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F84FCB-D7EB-8827-AF82-0E784F01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355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4BD37C-1B28-ABE8-F582-5B298EBB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D0566E-B8BE-AE0A-96C9-518F30E52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1142E9-2F7D-8616-40D2-17BF052E9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D1866-2C30-4242-929A-1E9FF303899C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D1EEF3-0F89-1197-68B3-2F7606D5B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59A9A4-300C-48FA-7AAF-EC29A69E1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FB856-4A0A-4135-8A7A-0732E90BA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339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30D150-2323-914F-093B-86DF862B9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116" y="324465"/>
            <a:ext cx="6522720" cy="2879604"/>
          </a:xfrm>
        </p:spPr>
        <p:txBody>
          <a:bodyPr>
            <a:noAutofit/>
          </a:bodyPr>
          <a:lstStyle/>
          <a:p>
            <a:pPr algn="l"/>
            <a:r>
              <a:rPr lang="en-US" sz="4000" i="1" dirty="0">
                <a:solidFill>
                  <a:schemeClr val="accent6"/>
                </a:solidFill>
                <a:latin typeface="Georgia" panose="02040502050405020303" pitchFamily="18" charset="0"/>
              </a:rPr>
              <a:t>“From Mining to Mitigation: How Bitcoin Can Support Renewable Energy Development  and Climate Action”</a:t>
            </a:r>
            <a:endParaRPr lang="it-IT" sz="4000" dirty="0">
              <a:solidFill>
                <a:schemeClr val="accent6"/>
              </a:solidFill>
              <a:latin typeface="Georgia" panose="02040502050405020303" pitchFamily="18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A0C5640-40AC-C9D0-C566-D1A8F308A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5708" y="5422474"/>
            <a:ext cx="4620584" cy="775494"/>
          </a:xfrm>
        </p:spPr>
        <p:txBody>
          <a:bodyPr>
            <a:normAutofit/>
          </a:bodyPr>
          <a:lstStyle/>
          <a:p>
            <a:r>
              <a:rPr lang="it-IT" sz="1600" dirty="0"/>
              <a:t>Gioele Messina</a:t>
            </a:r>
          </a:p>
          <a:p>
            <a:r>
              <a:rPr lang="en-US" sz="1600" dirty="0" err="1"/>
              <a:t>UniCT</a:t>
            </a:r>
            <a:r>
              <a:rPr lang="en-US" sz="1600" dirty="0"/>
              <a:t>-Anno </a:t>
            </a:r>
            <a:r>
              <a:rPr lang="en-US" sz="1600" dirty="0" err="1"/>
              <a:t>Accademico</a:t>
            </a:r>
            <a:r>
              <a:rPr lang="en-US" sz="1600" dirty="0"/>
              <a:t> 2025/2026</a:t>
            </a:r>
          </a:p>
          <a:p>
            <a:endParaRPr lang="it-IT" sz="1600" dirty="0"/>
          </a:p>
        </p:txBody>
      </p:sp>
      <p:pic>
        <p:nvPicPr>
          <p:cNvPr id="4" name="Segnaposto immagine 4">
            <a:extLst>
              <a:ext uri="{FF2B5EF4-FFF2-40B4-BE49-F238E27FC236}">
                <a16:creationId xmlns:a16="http://schemas.microsoft.com/office/drawing/2014/main" id="{82C8B2C7-1C4D-4CBD-BFC1-7CD53474D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0" r="2" b="2"/>
          <a:stretch>
            <a:fillRect/>
          </a:stretch>
        </p:blipFill>
        <p:spPr>
          <a:xfrm>
            <a:off x="7563190" y="0"/>
            <a:ext cx="4500989" cy="5063613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FE94E05-0B76-B625-3047-8F1FDC169515}"/>
              </a:ext>
            </a:extLst>
          </p:cNvPr>
          <p:cNvSpPr txBox="1"/>
          <p:nvPr/>
        </p:nvSpPr>
        <p:spPr>
          <a:xfrm>
            <a:off x="462116" y="3836218"/>
            <a:ext cx="5633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accent6"/>
                </a:solidFill>
              </a:rPr>
              <a:t>Bitcoin può supportare lo sviluppo delle energie rinnovabili?</a:t>
            </a:r>
          </a:p>
        </p:txBody>
      </p:sp>
    </p:spTree>
    <p:extLst>
      <p:ext uri="{BB962C8B-B14F-4D97-AF65-F5344CB8AC3E}">
        <p14:creationId xmlns:p14="http://schemas.microsoft.com/office/powerpoint/2010/main" val="71424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53C9B2-6981-B307-A9F3-7A2CCC0B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109487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Introduzione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A918F6-A533-ED41-D6E0-778439C97F61}"/>
              </a:ext>
            </a:extLst>
          </p:cNvPr>
          <p:cNvSpPr txBox="1"/>
          <p:nvPr/>
        </p:nvSpPr>
        <p:spPr>
          <a:xfrm>
            <a:off x="307258" y="2848116"/>
            <a:ext cx="72422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Il passaggio alle energie rinnovabili però è ostacolato da: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it-IT" sz="2000" dirty="0">
                <a:latin typeface="Georgia" panose="02040502050405020303" pitchFamily="18" charset="0"/>
              </a:rPr>
              <a:t>Intermittenza delle fonti energetiche (sole, vento)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it-IT" sz="2000" dirty="0">
                <a:latin typeface="Georgia" panose="02040502050405020303" pitchFamily="18" charset="0"/>
              </a:rPr>
              <a:t>Mancanza di opzioni che consentono lo stoccaggio energetico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it-IT" sz="2000" dirty="0">
                <a:solidFill>
                  <a:schemeClr val="accent6"/>
                </a:solidFill>
                <a:latin typeface="Georgia" panose="02040502050405020303" pitchFamily="18" charset="0"/>
              </a:rPr>
              <a:t>Elevata burocrazia </a:t>
            </a:r>
            <a:r>
              <a:rPr lang="it-IT" sz="2000" dirty="0" err="1">
                <a:solidFill>
                  <a:schemeClr val="accent6"/>
                </a:solidFill>
                <a:latin typeface="Georgia" panose="02040502050405020303" pitchFamily="18" charset="0"/>
              </a:rPr>
              <a:t>pre</a:t>
            </a:r>
            <a:r>
              <a:rPr lang="it-IT" sz="2000" dirty="0">
                <a:solidFill>
                  <a:schemeClr val="accent6"/>
                </a:solidFill>
                <a:latin typeface="Georgia" panose="02040502050405020303" pitchFamily="18" charset="0"/>
              </a:rPr>
              <a:t>-commerciale per l’integrazione degli impianti nella 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9F3FFF-4788-054E-2E0E-B4F6B83F3FA8}"/>
              </a:ext>
            </a:extLst>
          </p:cNvPr>
          <p:cNvSpPr txBox="1"/>
          <p:nvPr/>
        </p:nvSpPr>
        <p:spPr>
          <a:xfrm>
            <a:off x="307258" y="1347547"/>
            <a:ext cx="71455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Il mondo sta attualmente affrontando un grande problema legato alle alte emissioni provenienti dalle fonti energetiche basate sui combustibili fossili le quali contribuiscono significativamente al problema climatico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FDC5C6-DD39-A9CC-DD75-C758C11E7960}"/>
              </a:ext>
            </a:extLst>
          </p:cNvPr>
          <p:cNvSpPr txBox="1"/>
          <p:nvPr/>
        </p:nvSpPr>
        <p:spPr>
          <a:xfrm>
            <a:off x="307258" y="5184513"/>
            <a:ext cx="65458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Gli autori del paper si chiedono: </a:t>
            </a:r>
            <a:r>
              <a:rPr lang="it-IT" sz="2000" b="1" i="1" dirty="0">
                <a:solidFill>
                  <a:schemeClr val="accent6"/>
                </a:solidFill>
                <a:latin typeface="Georgia" panose="02040502050405020303" pitchFamily="18" charset="0"/>
              </a:rPr>
              <a:t>‘’Il mining può aiutare la transazione verso fonti di energia rinnovabile? ‘’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CCD88E9-6581-F6F2-129B-71FFFD5E9F08}"/>
              </a:ext>
            </a:extLst>
          </p:cNvPr>
          <p:cNvSpPr/>
          <p:nvPr/>
        </p:nvSpPr>
        <p:spPr>
          <a:xfrm>
            <a:off x="786580" y="4077702"/>
            <a:ext cx="6666271" cy="65744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A9A00D9-55E6-D16C-BAB9-4419EC75C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878" y="2076450"/>
            <a:ext cx="2861593" cy="27051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8750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541E93-0F3D-7A5F-27A4-041B6F1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OBIETTIVO E STUDIO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474AB9-DA62-270A-4D13-727DC1EE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00" y="1638813"/>
            <a:ext cx="7127187" cy="1458349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L’obiettivo degli autori è quantificare i potenziali ricavi derivanti dall’impiego dell’energia prodotta da impianti fotovoltaici ed eolici durante la fase </a:t>
            </a:r>
            <a:r>
              <a:rPr lang="it-IT" sz="2000" dirty="0" err="1">
                <a:latin typeface="Georgia" panose="02040502050405020303" pitchFamily="18" charset="0"/>
              </a:rPr>
              <a:t>pre-commericale</a:t>
            </a:r>
            <a:r>
              <a:rPr lang="it-IT" sz="2000" dirty="0">
                <a:latin typeface="Georgia" panose="02040502050405020303" pitchFamily="18" charset="0"/>
              </a:rPr>
              <a:t> per il mining di Bitcoin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2CE65F8-8D13-B424-7DE8-DFBD0B2213CA}"/>
              </a:ext>
            </a:extLst>
          </p:cNvPr>
          <p:cNvSpPr txBox="1"/>
          <p:nvPr/>
        </p:nvSpPr>
        <p:spPr>
          <a:xfrm>
            <a:off x="306000" y="3228945"/>
            <a:ext cx="88344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Georgia" panose="02040502050405020303" pitchFamily="18" charset="0"/>
              </a:rPr>
              <a:t>PROFITTO = RICAVI + SALVAGE VALUE – SPESE INIZIALI – SPESE OPERATIVE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32BDD6-4F7A-8B16-4E64-3EFC56A78AF6}"/>
              </a:ext>
            </a:extLst>
          </p:cNvPr>
          <p:cNvSpPr txBox="1"/>
          <p:nvPr/>
        </p:nvSpPr>
        <p:spPr>
          <a:xfrm>
            <a:off x="306000" y="4027292"/>
            <a:ext cx="7127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it-IT" sz="2000" b="1" dirty="0">
                <a:latin typeface="Georgia" panose="02040502050405020303" pitchFamily="18" charset="0"/>
              </a:rPr>
              <a:t>Dove: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Spese iniziali:</a:t>
            </a:r>
            <a:r>
              <a:rPr lang="it-IT" sz="2000" dirty="0">
                <a:latin typeface="Georgia" panose="02040502050405020303" pitchFamily="18" charset="0"/>
              </a:rPr>
              <a:t> Costi per acquistare HW e per pompe di raffreddamento.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Spese operative: </a:t>
            </a:r>
            <a:r>
              <a:rPr lang="it-IT" sz="2000" dirty="0">
                <a:latin typeface="Georgia" panose="02040502050405020303" pitchFamily="18" charset="0"/>
              </a:rPr>
              <a:t>Spese dovute al consumo energetico e alla manutenzione.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Ricavi Mining:</a:t>
            </a:r>
            <a:r>
              <a:rPr lang="it-IT" sz="2000" dirty="0">
                <a:latin typeface="Georgia" panose="02040502050405020303" pitchFamily="18" charset="0"/>
              </a:rPr>
              <a:t> Block </a:t>
            </a:r>
            <a:r>
              <a:rPr lang="it-IT" sz="2000" dirty="0" err="1">
                <a:latin typeface="Georgia" panose="02040502050405020303" pitchFamily="18" charset="0"/>
              </a:rPr>
              <a:t>Reward</a:t>
            </a:r>
            <a:r>
              <a:rPr lang="it-IT" sz="2000" dirty="0">
                <a:latin typeface="Georgia" panose="02040502050405020303" pitchFamily="18" charset="0"/>
              </a:rPr>
              <a:t> previste dal protocollo Bitcoin.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Salvage Value:</a:t>
            </a:r>
            <a:r>
              <a:rPr lang="it-IT" sz="2000" dirty="0">
                <a:latin typeface="Georgia" panose="02040502050405020303" pitchFamily="18" charset="0"/>
              </a:rPr>
              <a:t> Vendita dell’attrezzatura iniziale.</a:t>
            </a:r>
          </a:p>
          <a:p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F060AB7-E564-4DCD-AD89-7FF1482F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106" y="181229"/>
            <a:ext cx="4659944" cy="209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7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BB2509-3FFF-6B44-E901-283A8A35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SPESE INIZIALI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0B955AA-3297-7AF5-8EF5-A8595A6A2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00" y="1609616"/>
            <a:ext cx="3162574" cy="64775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AE9D7E-0A4E-05F4-05B8-CECC175FD59B}"/>
              </a:ext>
            </a:extLst>
          </p:cNvPr>
          <p:cNvSpPr txBox="1"/>
          <p:nvPr/>
        </p:nvSpPr>
        <p:spPr>
          <a:xfrm>
            <a:off x="306001" y="2714779"/>
            <a:ext cx="77226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Le spese iniziali considerate sono:</a:t>
            </a:r>
          </a:p>
          <a:p>
            <a:endParaRPr lang="it-IT" sz="2400" dirty="0"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>
                <a:latin typeface="Georgia" panose="02040502050405020303" pitchFamily="18" charset="0"/>
              </a:rPr>
              <a:t>C</a:t>
            </a:r>
            <a:r>
              <a:rPr lang="it-IT" sz="2400" b="1" baseline="30000" dirty="0" err="1">
                <a:latin typeface="Georgia" panose="02040502050405020303" pitchFamily="18" charset="0"/>
              </a:rPr>
              <a:t>Miner</a:t>
            </a:r>
            <a:r>
              <a:rPr lang="it-IT" sz="2400" dirty="0">
                <a:latin typeface="Georgia" panose="02040502050405020303" pitchFamily="18" charset="0"/>
              </a:rPr>
              <a:t> : Il costo legato all’acquisizione dei mining </a:t>
            </a:r>
            <a:r>
              <a:rPr lang="it-IT" sz="2400" dirty="0" err="1">
                <a:latin typeface="Georgia" panose="02040502050405020303" pitchFamily="18" charset="0"/>
              </a:rPr>
              <a:t>Bitmain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Antminer</a:t>
            </a:r>
            <a:r>
              <a:rPr lang="it-IT" sz="2400" dirty="0">
                <a:latin typeface="Georgia" panose="02040502050405020303" pitchFamily="18" charset="0"/>
              </a:rPr>
              <a:t> S19j Pro dato dal prodotto tra il numero di </a:t>
            </a:r>
            <a:r>
              <a:rPr lang="it-IT" sz="2400" dirty="0" err="1">
                <a:latin typeface="Georgia" panose="02040502050405020303" pitchFamily="18" charset="0"/>
              </a:rPr>
              <a:t>apparecchieature</a:t>
            </a:r>
            <a:r>
              <a:rPr lang="it-IT" sz="2400" dirty="0">
                <a:latin typeface="Georgia" panose="02040502050405020303" pitchFamily="18" charset="0"/>
              </a:rPr>
              <a:t> per il costo unitario della singola macchina </a:t>
            </a:r>
          </a:p>
          <a:p>
            <a:endParaRPr lang="it-IT" sz="2400" dirty="0"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Georgia" panose="02040502050405020303" pitchFamily="18" charset="0"/>
              </a:rPr>
              <a:t>C</a:t>
            </a:r>
            <a:r>
              <a:rPr lang="it-IT" sz="2400" b="1" baseline="30000" dirty="0">
                <a:latin typeface="Georgia" panose="02040502050405020303" pitchFamily="18" charset="0"/>
              </a:rPr>
              <a:t>HP</a:t>
            </a:r>
            <a:r>
              <a:rPr lang="it-IT" sz="2400" dirty="0">
                <a:latin typeface="Georgia" panose="02040502050405020303" pitchFamily="18" charset="0"/>
              </a:rPr>
              <a:t> : Il costo legato all’acquisizione delle pompe di raffreddamento, dato dal prodotto tra il numero di pompe ed il costo della singola unità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B67E95B-7856-8A62-7C1F-8505406C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196" y="1879600"/>
            <a:ext cx="3198036" cy="32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27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6C853-BF4C-E41C-638E-629BDE422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EF69A-AFF6-1E55-744F-F85AF105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SALVAGE VALUE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5A4F647-0046-FFCA-6659-8DD3E01DCCD5}"/>
              </a:ext>
            </a:extLst>
          </p:cNvPr>
          <p:cNvSpPr txBox="1"/>
          <p:nvPr/>
        </p:nvSpPr>
        <p:spPr>
          <a:xfrm>
            <a:off x="306000" y="2767280"/>
            <a:ext cx="9081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t-IT" sz="2000" dirty="0">
                <a:latin typeface="Georgia" panose="02040502050405020303" pitchFamily="18" charset="0"/>
              </a:rPr>
              <a:t>Quando la fase </a:t>
            </a:r>
            <a:r>
              <a:rPr lang="it-IT" sz="2000" dirty="0" err="1">
                <a:latin typeface="Georgia" panose="02040502050405020303" pitchFamily="18" charset="0"/>
              </a:rPr>
              <a:t>pre</a:t>
            </a:r>
            <a:r>
              <a:rPr lang="it-IT" sz="2000" dirty="0">
                <a:latin typeface="Georgia" panose="02040502050405020303" pitchFamily="18" charset="0"/>
              </a:rPr>
              <a:t>-commerciale si conclude, gli operatori possono recuperare parte dell'investimento iniziale rivendendo l’attrezzatura.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it-IT" sz="2000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it-IT" sz="2000" dirty="0">
                <a:latin typeface="Georgia" panose="02040502050405020303" pitchFamily="18" charset="0"/>
              </a:rPr>
              <a:t>Ovviamente la vendita non sarà al prezzo originario, ma subirà un deprezzamento di un fattore “</a:t>
            </a:r>
            <a:r>
              <a:rPr lang="it-IT" sz="2000" dirty="0" err="1">
                <a:latin typeface="Georgia" panose="02040502050405020303" pitchFamily="18" charset="0"/>
              </a:rPr>
              <a:t>sHP</a:t>
            </a:r>
            <a:r>
              <a:rPr lang="it-IT" sz="2000" dirty="0">
                <a:latin typeface="Georgia" panose="02040502050405020303" pitchFamily="18" charset="0"/>
              </a:rPr>
              <a:t>” per le pompe e di un fattore “</a:t>
            </a:r>
            <a:r>
              <a:rPr lang="it-IT" sz="2000" dirty="0" err="1">
                <a:latin typeface="Georgia" panose="02040502050405020303" pitchFamily="18" charset="0"/>
              </a:rPr>
              <a:t>sMiner</a:t>
            </a:r>
            <a:r>
              <a:rPr lang="it-IT" sz="2000" dirty="0">
                <a:latin typeface="Georgia" panose="02040502050405020303" pitchFamily="18" charset="0"/>
              </a:rPr>
              <a:t>” per i </a:t>
            </a:r>
            <a:r>
              <a:rPr lang="it-IT" sz="2000" dirty="0" err="1">
                <a:latin typeface="Georgia" panose="02040502050405020303" pitchFamily="18" charset="0"/>
              </a:rPr>
              <a:t>miners</a:t>
            </a:r>
            <a:r>
              <a:rPr lang="it-IT" sz="2000" dirty="0">
                <a:latin typeface="Georgia" panose="02040502050405020303" pitchFamily="18" charset="0"/>
              </a:rPr>
              <a:t> 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it-IT" sz="2000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it-IT" sz="2000" dirty="0">
                <a:latin typeface="Georgia" panose="02040502050405020303" pitchFamily="18" charset="0"/>
              </a:rPr>
              <a:t>Fattori considerati dagli autori: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Georgia" panose="02040502050405020303" pitchFamily="18" charset="0"/>
              </a:rPr>
              <a:t>sMiners</a:t>
            </a:r>
            <a:r>
              <a:rPr lang="it-IT" sz="2000" dirty="0">
                <a:latin typeface="Georgia" panose="02040502050405020303" pitchFamily="18" charset="0"/>
              </a:rPr>
              <a:t>=0 -&gt; a causa dell’obsolescenza molto rapida dell’HW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Georgia" panose="02040502050405020303" pitchFamily="18" charset="0"/>
              </a:rPr>
              <a:t>sHP</a:t>
            </a:r>
            <a:r>
              <a:rPr lang="it-IT" sz="2000" dirty="0">
                <a:latin typeface="Georgia" panose="02040502050405020303" pitchFamily="18" charset="0"/>
              </a:rPr>
              <a:t>=0,24 -&gt;  circa il 25% del costo iniziale delle pompe è recuperabile poiché il tempo di vita delle pompe  è nettamente maggiore rispetto al tempo per cui sono state utilizzate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1958590-EC8C-6776-43E1-D9CA731A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0" y="1433563"/>
            <a:ext cx="603556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744A-525A-47EC-E4A4-A9CD9C55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ACE773-C65B-0C4B-FE72-11CA38A6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RICAVI MINING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50B2BAB-DCA8-B22C-2835-842DA1F2B5F1}"/>
              </a:ext>
            </a:extLst>
          </p:cNvPr>
          <p:cNvSpPr txBox="1"/>
          <p:nvPr/>
        </p:nvSpPr>
        <p:spPr>
          <a:xfrm>
            <a:off x="305998" y="2631067"/>
            <a:ext cx="68568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I ricavi generati dal mining di Bitcoin variano nel tempo in quando dipendono da diversi fattori:</a:t>
            </a:r>
          </a:p>
          <a:p>
            <a:endParaRPr lang="it-IT" sz="2000" dirty="0">
              <a:latin typeface="Georgia" panose="02040502050405020303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Georgia" panose="02040502050405020303" pitchFamily="18" charset="0"/>
              </a:rPr>
              <a:t>SP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baseline="30000" dirty="0">
                <a:latin typeface="Georgia" panose="02040502050405020303" pitchFamily="18" charset="0"/>
              </a:rPr>
              <a:t> BIT</a:t>
            </a:r>
            <a:r>
              <a:rPr lang="it-IT" sz="2000" dirty="0">
                <a:latin typeface="Georgia" panose="02040502050405020303" pitchFamily="18" charset="0"/>
              </a:rPr>
              <a:t> : Prezzo di mercato del BTC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R: </a:t>
            </a:r>
            <a:r>
              <a:rPr lang="it-IT" sz="2000" dirty="0">
                <a:latin typeface="Georgia" panose="02040502050405020303" pitchFamily="18" charset="0"/>
              </a:rPr>
              <a:t>Block </a:t>
            </a:r>
            <a:r>
              <a:rPr lang="it-IT" sz="2000" dirty="0" err="1">
                <a:latin typeface="Georgia" panose="02040502050405020303" pitchFamily="18" charset="0"/>
              </a:rPr>
              <a:t>Reward</a:t>
            </a:r>
            <a:r>
              <a:rPr lang="it-IT" sz="2000" dirty="0">
                <a:latin typeface="Georgia" panose="02040502050405020303" pitchFamily="18" charset="0"/>
              </a:rPr>
              <a:t>, numero di Bitcoin rilasciati dal protocollo per aver trovato un blocco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Georgia" panose="02040502050405020303" pitchFamily="18" charset="0"/>
              </a:rPr>
              <a:t>H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dirty="0">
                <a:latin typeface="Georgia" panose="02040502050405020303" pitchFamily="18" charset="0"/>
              </a:rPr>
              <a:t>:  </a:t>
            </a:r>
            <a:r>
              <a:rPr lang="it-IT" sz="2000" dirty="0">
                <a:latin typeface="Georgia" panose="02040502050405020303" pitchFamily="18" charset="0"/>
              </a:rPr>
              <a:t>Potenza di </a:t>
            </a:r>
            <a:r>
              <a:rPr lang="it-IT" sz="2000" dirty="0" err="1">
                <a:latin typeface="Georgia" panose="02040502050405020303" pitchFamily="18" charset="0"/>
              </a:rPr>
              <a:t>hashing</a:t>
            </a:r>
            <a:r>
              <a:rPr lang="it-IT" sz="2000" dirty="0">
                <a:latin typeface="Georgia" panose="02040502050405020303" pitchFamily="18" charset="0"/>
              </a:rPr>
              <a:t>, ossia la capacità computazionale dell’HW usato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Georgia" panose="02040502050405020303" pitchFamily="18" charset="0"/>
              </a:rPr>
              <a:t>T</a:t>
            </a:r>
            <a:r>
              <a:rPr lang="it-IT" sz="2000" b="1" baseline="-25000" dirty="0">
                <a:latin typeface="Georgia" panose="02040502050405020303" pitchFamily="18" charset="0"/>
              </a:rPr>
              <a:t>m</a:t>
            </a:r>
            <a:r>
              <a:rPr lang="it-IT" sz="2000" dirty="0">
                <a:latin typeface="Georgia" panose="02040502050405020303" pitchFamily="18" charset="0"/>
              </a:rPr>
              <a:t>: Periodo di tempo in cui viene svolta l'attività di mining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Georgia" panose="02040502050405020303" pitchFamily="18" charset="0"/>
              </a:rPr>
              <a:t>D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baseline="-25000" dirty="0">
                <a:latin typeface="Georgia" panose="02040502050405020303" pitchFamily="18" charset="0"/>
              </a:rPr>
              <a:t>:  </a:t>
            </a:r>
            <a:r>
              <a:rPr lang="it-IT" sz="2000" dirty="0">
                <a:latin typeface="Georgia" panose="02040502050405020303" pitchFamily="18" charset="0"/>
              </a:rPr>
              <a:t>: Difficoltà della soglia </a:t>
            </a:r>
            <a:r>
              <a:rPr lang="it-IT" sz="2000" dirty="0" err="1">
                <a:latin typeface="Georgia" panose="02040502050405020303" pitchFamily="18" charset="0"/>
              </a:rPr>
              <a:t>dell’hash</a:t>
            </a:r>
            <a:r>
              <a:rPr lang="it-IT" sz="2000" dirty="0">
                <a:latin typeface="Georgia" panose="02040502050405020303" pitchFamily="18" charset="0"/>
              </a:rPr>
              <a:t> che consente di trovare un blocco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B80A630-1C0F-F13A-E633-291E8228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0" y="1305504"/>
            <a:ext cx="4610500" cy="128027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DA1ECF6-5382-BA4A-7F10-53B5E4FD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502" y="2585775"/>
            <a:ext cx="4610500" cy="38113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3372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BC31-3207-F6A0-5EC6-1E99642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865B6-2B04-29DE-A00C-4E5263AC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SPESE OPERATIVE 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720D38-D409-4995-3586-E4FCC28305C6}"/>
              </a:ext>
            </a:extLst>
          </p:cNvPr>
          <p:cNvSpPr txBox="1"/>
          <p:nvPr/>
        </p:nvSpPr>
        <p:spPr>
          <a:xfrm>
            <a:off x="306000" y="1316946"/>
            <a:ext cx="685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Le spese dovute al funzionamento dell’intero impianto rinnovabile, possono essere calcolato nel seguente modo: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2A11EAA-6550-CFDC-A1F5-A9258DB8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94" y="2332609"/>
            <a:ext cx="4395391" cy="102189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42737A7-835D-8DB5-14C2-006B80BA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94" y="3071588"/>
            <a:ext cx="3956470" cy="118196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BFA4E30-D057-7AA3-FD29-0BCE11A95435}"/>
              </a:ext>
            </a:extLst>
          </p:cNvPr>
          <p:cNvSpPr txBox="1"/>
          <p:nvPr/>
        </p:nvSpPr>
        <p:spPr>
          <a:xfrm>
            <a:off x="306000" y="4130639"/>
            <a:ext cx="101619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Dove: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Georgia" panose="02040502050405020303" pitchFamily="18" charset="0"/>
              </a:rPr>
              <a:t>Opfachp</a:t>
            </a:r>
            <a:r>
              <a:rPr lang="it-IT" sz="2000" dirty="0">
                <a:latin typeface="Georgia" panose="02040502050405020303" pitchFamily="18" charset="0"/>
              </a:rPr>
              <a:t> è il costo per unità di potenza utilizzata per il funzionamento e la manutenzione delle pompe.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Georgia" panose="02040502050405020303" pitchFamily="18" charset="0"/>
              </a:rPr>
              <a:t>Opfacrenew</a:t>
            </a:r>
            <a:r>
              <a:rPr lang="it-IT" sz="2000" dirty="0">
                <a:latin typeface="Georgia" panose="02040502050405020303" pitchFamily="18" charset="0"/>
              </a:rPr>
              <a:t> è il costo per unità di potenza utilizzata per il funzionamento e la manutenzione dell’impianto rinnovabile.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Georgia" panose="02040502050405020303" pitchFamily="18" charset="0"/>
              </a:rPr>
              <a:t>P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baseline="30000" dirty="0" err="1">
                <a:latin typeface="Georgia" panose="02040502050405020303" pitchFamily="18" charset="0"/>
              </a:rPr>
              <a:t>UTL</a:t>
            </a:r>
            <a:r>
              <a:rPr lang="it-IT" sz="2000" b="1" baseline="30000" dirty="0">
                <a:latin typeface="Georgia" panose="02040502050405020303" pitchFamily="18" charset="0"/>
              </a:rPr>
              <a:t> </a:t>
            </a:r>
            <a:r>
              <a:rPr lang="it-IT" sz="2000" b="1" dirty="0">
                <a:latin typeface="Georgia" panose="02040502050405020303" pitchFamily="18" charset="0"/>
              </a:rPr>
              <a:t>: </a:t>
            </a:r>
            <a:r>
              <a:rPr lang="it-IT" sz="2000" dirty="0">
                <a:latin typeface="Georgia" panose="02040502050405020303" pitchFamily="18" charset="0"/>
              </a:rPr>
              <a:t>Potenza utilizzata dall’impianto rinnovabile</a:t>
            </a:r>
            <a:endParaRPr lang="it-IT" sz="2000" b="1" baseline="300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Georgia" panose="02040502050405020303" pitchFamily="18" charset="0"/>
              </a:rPr>
              <a:t>P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baseline="30000" dirty="0" err="1">
                <a:latin typeface="Georgia" panose="02040502050405020303" pitchFamily="18" charset="0"/>
              </a:rPr>
              <a:t>HP</a:t>
            </a:r>
            <a:r>
              <a:rPr lang="it-IT" sz="2000" b="1" dirty="0">
                <a:latin typeface="Georgia" panose="02040502050405020303" pitchFamily="18" charset="0"/>
              </a:rPr>
              <a:t> : </a:t>
            </a:r>
            <a:r>
              <a:rPr lang="it-IT" sz="2000" dirty="0">
                <a:latin typeface="Georgia" panose="02040502050405020303" pitchFamily="18" charset="0"/>
              </a:rPr>
              <a:t>potenza utilizzata dalle pompe di raffreddamento</a:t>
            </a:r>
          </a:p>
        </p:txBody>
      </p:sp>
    </p:spTree>
    <p:extLst>
      <p:ext uri="{BB962C8B-B14F-4D97-AF65-F5344CB8AC3E}">
        <p14:creationId xmlns:p14="http://schemas.microsoft.com/office/powerpoint/2010/main" val="240588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ED62-256C-1C3E-8CB3-F48C5F48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8E2E309F-522D-296B-AA06-99E1C382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040" y="2707847"/>
            <a:ext cx="5874960" cy="320671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8EAB524-D0B0-554C-A93D-253A01181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POTENZA ELETTRICA GENERATA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C6B1C9-C297-D132-BC17-B69EA1C2EFB3}"/>
              </a:ext>
            </a:extLst>
          </p:cNvPr>
          <p:cNvSpPr txBox="1"/>
          <p:nvPr/>
        </p:nvSpPr>
        <p:spPr>
          <a:xfrm>
            <a:off x="306000" y="1814786"/>
            <a:ext cx="5373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Georgia" panose="02040502050405020303" pitchFamily="18" charset="0"/>
              </a:rPr>
              <a:t>La potenza elettrica generata dagli impianti fotovoltaici o eolici si divide in due parti:</a:t>
            </a:r>
          </a:p>
          <a:p>
            <a:endParaRPr lang="it-IT" sz="2000" dirty="0">
              <a:latin typeface="Georgia" panose="02040502050405020303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t-IT" sz="2000" b="1" i="1" dirty="0" err="1">
                <a:latin typeface="Georgia" panose="02040502050405020303" pitchFamily="18" charset="0"/>
              </a:rPr>
              <a:t>P</a:t>
            </a:r>
            <a:r>
              <a:rPr lang="it-IT" sz="2000" b="1" i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i="1" baseline="30000" dirty="0" err="1">
                <a:latin typeface="Georgia" panose="02040502050405020303" pitchFamily="18" charset="0"/>
              </a:rPr>
              <a:t>UTL</a:t>
            </a:r>
            <a:r>
              <a:rPr lang="it-IT" sz="2000" b="1" i="1" baseline="30000" dirty="0">
                <a:latin typeface="Georgia" panose="02040502050405020303" pitchFamily="18" charset="0"/>
              </a:rPr>
              <a:t> </a:t>
            </a:r>
            <a:r>
              <a:rPr lang="it-IT" sz="2000" dirty="0">
                <a:latin typeface="Georgia" panose="02040502050405020303" pitchFamily="18" charset="0"/>
              </a:rPr>
              <a:t>: Energia che viene effettivamente utilizzata dall’HW e dalle pompe di raffreddamento e dall’infrastruttura in generale.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sz="2000" dirty="0">
              <a:latin typeface="Georgia" panose="02040502050405020303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t-IT" sz="2000" b="1" dirty="0" err="1">
                <a:latin typeface="Georgia" panose="02040502050405020303" pitchFamily="18" charset="0"/>
              </a:rPr>
              <a:t>P</a:t>
            </a:r>
            <a:r>
              <a:rPr lang="it-IT" sz="2000" b="1" baseline="-25000" dirty="0" err="1">
                <a:latin typeface="Georgia" panose="02040502050405020303" pitchFamily="18" charset="0"/>
              </a:rPr>
              <a:t>t</a:t>
            </a:r>
            <a:r>
              <a:rPr lang="it-IT" sz="2000" b="1" baseline="30000" dirty="0" err="1">
                <a:latin typeface="Georgia" panose="02040502050405020303" pitchFamily="18" charset="0"/>
              </a:rPr>
              <a:t>Surplus</a:t>
            </a:r>
            <a:r>
              <a:rPr lang="it-IT" sz="2000" dirty="0">
                <a:latin typeface="Georgia" panose="02040502050405020303" pitchFamily="18" charset="0"/>
              </a:rPr>
              <a:t> : Energia prodotta ma che non viene utilizzata in quando è in eccesso.  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C2A1BE12-FE61-30E3-49FE-B5BF6C36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40" y="1256264"/>
            <a:ext cx="3076604" cy="111704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36C28F7A-DC6D-4364-3752-81568D4DA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802" y="2311399"/>
            <a:ext cx="2479298" cy="37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2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CB2B-F4E2-CECA-3116-4CEC8A84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DF8853-A184-1159-E379-6417AF05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RISULTATI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ABDCABE-6905-DADE-EE33-0773B46834B5}"/>
              </a:ext>
            </a:extLst>
          </p:cNvPr>
          <p:cNvSpPr txBox="1"/>
          <p:nvPr/>
        </p:nvSpPr>
        <p:spPr>
          <a:xfrm>
            <a:off x="306000" y="1358069"/>
            <a:ext cx="5790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I risultati mostrano come diversi stati come il Texas, California, Colorado, e molti altri hanno ottenuto redditività dal mining di Bitcoin durante la fase </a:t>
            </a:r>
            <a:r>
              <a:rPr lang="it-IT" dirty="0" err="1"/>
              <a:t>pre</a:t>
            </a:r>
            <a:r>
              <a:rPr lang="it-IT" dirty="0"/>
              <a:t>-commerciale degli impianti.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1A550C-AA56-BE2B-A20E-F46F4D7D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53" y="2554890"/>
            <a:ext cx="4765694" cy="430311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677EAF7-5D62-E545-BBA8-93DABACA9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000"/>
            <a:ext cx="5063607" cy="400824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6BAD484-A417-3B91-F013-B824EBC03025}"/>
              </a:ext>
            </a:extLst>
          </p:cNvPr>
          <p:cNvSpPr txBox="1"/>
          <p:nvPr/>
        </p:nvSpPr>
        <p:spPr>
          <a:xfrm>
            <a:off x="5872480" y="434992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I progetti </a:t>
            </a:r>
            <a:r>
              <a:rPr lang="it-IT" sz="1800" dirty="0" err="1"/>
              <a:t>Aktina</a:t>
            </a:r>
            <a:r>
              <a:rPr lang="it-IT" sz="1800" dirty="0"/>
              <a:t> Solar e Roseland Solar, entrambi sistemi fotovoltaici solari, risultano i più redditizi, generando un profitto massimo di 3,23 milioni di dollari.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Il progetto eolico Western Trail, ha avuto una redditività leggermente inferiore di 2,65 milioni di dollari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6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EB48-5ACF-D0D4-35B3-EC39432B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31F013-B888-AFEE-4914-7205F2EF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 E CONTRO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D9A50F4-2102-473C-FAA2-C168E17DC3EC}"/>
              </a:ext>
            </a:extLst>
          </p:cNvPr>
          <p:cNvSpPr txBox="1"/>
          <p:nvPr/>
        </p:nvSpPr>
        <p:spPr>
          <a:xfrm>
            <a:off x="305999" y="1272421"/>
            <a:ext cx="56770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accent6"/>
                </a:solidFill>
              </a:rPr>
              <a:t>PRO</a:t>
            </a:r>
          </a:p>
          <a:p>
            <a:pPr algn="ctr"/>
            <a:endParaRPr lang="it-IT" sz="2800" dirty="0"/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it-IT" sz="2800" dirty="0"/>
              <a:t>I profitti ottenuti possono essere reinvestiti per realizzare nuovi impianti rinnovabili, in tecnologia o in ricerca.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it-IT" sz="2800" dirty="0"/>
              <a:t>Sviluppo delle infrastrutture energetiche pulite.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it-IT" sz="2800" dirty="0"/>
              <a:t>Favorisce il passaggio a fonti energetiche rinnovabili riducendo l’impatto ambientale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2060E16-E4B4-48F7-9E6A-8DD292CCEB3D}"/>
              </a:ext>
            </a:extLst>
          </p:cNvPr>
          <p:cNvSpPr txBox="1"/>
          <p:nvPr/>
        </p:nvSpPr>
        <p:spPr>
          <a:xfrm>
            <a:off x="6208960" y="1272421"/>
            <a:ext cx="567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rgbClr val="FF0000"/>
                </a:solidFill>
              </a:rPr>
              <a:t>CONTRO</a:t>
            </a:r>
          </a:p>
          <a:p>
            <a:pPr algn="ctr"/>
            <a:endParaRPr lang="it-IT" sz="2800" dirty="0">
              <a:solidFill>
                <a:srgbClr val="FF0000"/>
              </a:solidFill>
            </a:endParaRPr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r>
              <a:rPr lang="it-IT" sz="2800" dirty="0"/>
              <a:t>Obsolescenza molto rapida dell’HW.</a:t>
            </a:r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r>
              <a:rPr lang="it-IT" sz="2800" dirty="0"/>
              <a:t>Rischio di esaurimento delle materie prime della terra.</a:t>
            </a:r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r>
              <a:rPr lang="it-IT" sz="2800" dirty="0"/>
              <a:t>Crescita dei rifiuti elettronici </a:t>
            </a:r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r>
              <a:rPr lang="it-IT" sz="2800" dirty="0"/>
              <a:t>Inquinamento ambientale per lo smaltimento dei rifiuti elettronici.</a:t>
            </a:r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endParaRPr lang="it-IT" sz="2800" dirty="0"/>
          </a:p>
          <a:p>
            <a:pPr marL="457200" indent="-457200">
              <a:buClr>
                <a:srgbClr val="FF0000"/>
              </a:buClr>
              <a:buFont typeface="Aptos" panose="020B0004020202020204" pitchFamily="34" charset="0"/>
              <a:buChar char="x"/>
            </a:pP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57621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4B5B-DF22-B981-9DF4-808A4A45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0DF7C0-26CE-2ACD-3C34-214C0D3E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BEEA427-9157-37BD-B0FB-FE1531D61E45}"/>
                  </a:ext>
                </a:extLst>
              </p:cNvPr>
              <p:cNvSpPr txBox="1"/>
              <p:nvPr/>
            </p:nvSpPr>
            <p:spPr>
              <a:xfrm>
                <a:off x="112960" y="1252101"/>
                <a:ext cx="636912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latin typeface="Georgia" panose="02040502050405020303" pitchFamily="18" charset="0"/>
                  </a:rPr>
                  <a:t>l’integrazione del </a:t>
                </a:r>
                <a:r>
                  <a:rPr lang="it-IT" sz="2400" i="1" dirty="0">
                    <a:latin typeface="Georgia" panose="02040502050405020303" pitchFamily="18" charset="0"/>
                  </a:rPr>
                  <a:t>mining</a:t>
                </a:r>
                <a:r>
                  <a:rPr lang="it-IT" sz="2400" dirty="0">
                    <a:latin typeface="Georgia" panose="02040502050405020303" pitchFamily="18" charset="0"/>
                  </a:rPr>
                  <a:t> di Bitcoin nella fase </a:t>
                </a:r>
                <a:r>
                  <a:rPr lang="it-IT" sz="2400" dirty="0" err="1">
                    <a:latin typeface="Georgia" panose="02040502050405020303" pitchFamily="18" charset="0"/>
                  </a:rPr>
                  <a:t>pre</a:t>
                </a:r>
                <a:r>
                  <a:rPr lang="it-IT" sz="2400" dirty="0">
                    <a:latin typeface="Georgia" panose="02040502050405020303" pitchFamily="18" charset="0"/>
                  </a:rPr>
                  <a:t>-commerciale si conferma un modello virtuoso per accelerare la transizione verso energie rinnovabili, fungendo da ponte tra la tecnologia blockchain e la sostenibilità.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400" dirty="0">
                  <a:latin typeface="Georgia" panose="02040502050405020303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latin typeface="Georgia" panose="02040502050405020303" pitchFamily="18" charset="0"/>
                  </a:rPr>
                  <a:t>Affinché questo approccio possa esprimersi al meglio, gli autori sottolineano la necessità di un intervento istituzionale volto a incentivare il </a:t>
                </a:r>
                <a:r>
                  <a:rPr lang="it-IT" sz="2400" i="1" dirty="0">
                    <a:latin typeface="Georgia" panose="02040502050405020303" pitchFamily="18" charset="0"/>
                  </a:rPr>
                  <a:t>mining</a:t>
                </a:r>
                <a:r>
                  <a:rPr lang="it-IT" sz="2400" dirty="0">
                    <a:latin typeface="Georgia" panose="02040502050405020303" pitchFamily="18" charset="0"/>
                  </a:rPr>
                  <a:t> "verde", suggerendo l'adozione di crediti mirati a compensare le emissioni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400" dirty="0">
                    <a:latin typeface="Georgia" panose="02040502050405020303" pitchFamily="18" charset="0"/>
                  </a:rPr>
                  <a:t> evitate.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BEEA427-9157-37BD-B0FB-FE1531D61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60" y="1252101"/>
                <a:ext cx="6369120" cy="4893647"/>
              </a:xfrm>
              <a:prstGeom prst="rect">
                <a:avLst/>
              </a:prstGeom>
              <a:blipFill>
                <a:blip r:embed="rId2"/>
                <a:stretch>
                  <a:fillRect l="-1341" t="-996" r="-2395" b="-18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69E02A76-095A-1412-A594-D0F50A410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0" y="2134626"/>
            <a:ext cx="5554706" cy="312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9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D871-6FDF-9075-7224-DB0CFCB7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E2B4BCC4-FF3F-33FD-695B-837E0FE455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7E1686C-163F-288B-7FA9-438C826A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108000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FINE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4739CC-5EB6-3ED6-CBF9-ADD8DDB3FAA4}"/>
              </a:ext>
            </a:extLst>
          </p:cNvPr>
          <p:cNvSpPr txBox="1"/>
          <p:nvPr/>
        </p:nvSpPr>
        <p:spPr>
          <a:xfrm>
            <a:off x="1969710" y="4152275"/>
            <a:ext cx="8422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Georgia" panose="02040502050405020303" pitchFamily="18" charset="0"/>
              </a:rPr>
              <a:t>Per ulteriori approfondimenti consultare la relazione o il paper originale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A806F7-CF8F-1E07-9DD3-3CAEF7C54CDF}"/>
              </a:ext>
            </a:extLst>
          </p:cNvPr>
          <p:cNvSpPr txBox="1"/>
          <p:nvPr/>
        </p:nvSpPr>
        <p:spPr>
          <a:xfrm>
            <a:off x="1799791" y="2875002"/>
            <a:ext cx="859241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600" dirty="0">
                <a:solidFill>
                  <a:schemeClr val="bg1"/>
                </a:solidFill>
                <a:latin typeface="Georgia" panose="02040502050405020303" pitchFamily="18" charset="0"/>
              </a:rPr>
              <a:t>Grazie per l’attenzione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6E8B2021-7D78-9A7D-A28C-B1067FDD65E5}"/>
              </a:ext>
            </a:extLst>
          </p:cNvPr>
          <p:cNvSpPr txBox="1">
            <a:spLocks/>
          </p:cNvSpPr>
          <p:nvPr/>
        </p:nvSpPr>
        <p:spPr>
          <a:xfrm>
            <a:off x="7501566" y="5974506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it-IT" sz="2400" dirty="0">
                <a:solidFill>
                  <a:schemeClr val="bg1"/>
                </a:solidFill>
              </a:rPr>
              <a:t>Gioele Messina</a:t>
            </a:r>
          </a:p>
          <a:p>
            <a:pPr marL="0" indent="0" algn="r">
              <a:buNone/>
            </a:pPr>
            <a:r>
              <a:rPr lang="en-US" sz="2400" dirty="0" err="1">
                <a:solidFill>
                  <a:schemeClr val="bg1"/>
                </a:solidFill>
              </a:rPr>
              <a:t>UniCT</a:t>
            </a:r>
            <a:r>
              <a:rPr lang="en-US" sz="2400" dirty="0">
                <a:solidFill>
                  <a:schemeClr val="bg1"/>
                </a:solidFill>
              </a:rPr>
              <a:t>-Anno </a:t>
            </a:r>
            <a:r>
              <a:rPr lang="en-US" sz="2400" dirty="0" err="1">
                <a:solidFill>
                  <a:schemeClr val="bg1"/>
                </a:solidFill>
              </a:rPr>
              <a:t>Accademico</a:t>
            </a:r>
            <a:r>
              <a:rPr lang="en-US" sz="2400" dirty="0">
                <a:solidFill>
                  <a:schemeClr val="bg1"/>
                </a:solidFill>
              </a:rPr>
              <a:t> 2025/2026</a:t>
            </a:r>
          </a:p>
          <a:p>
            <a:pPr marL="0" indent="0" algn="r">
              <a:buNone/>
            </a:pPr>
            <a:endParaRPr lang="it-I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459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796</Words>
  <Application>Microsoft Office PowerPoint</Application>
  <PresentationFormat>Widescreen</PresentationFormat>
  <Paragraphs>81</Paragraphs>
  <Slides>12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Georgia</vt:lpstr>
      <vt:lpstr>Wingdings</vt:lpstr>
      <vt:lpstr>Tema di Office</vt:lpstr>
      <vt:lpstr>“From Mining to Mitigation: How Bitcoin Can Support Renewable Energy Development  and Climate Action”</vt:lpstr>
      <vt:lpstr>Introduzione</vt:lpstr>
      <vt:lpstr>OBIETTIVO E STUDIO</vt:lpstr>
      <vt:lpstr>SPESE INIZIALI</vt:lpstr>
      <vt:lpstr>SALVAGE VALUE</vt:lpstr>
      <vt:lpstr>RICAVI MINING</vt:lpstr>
      <vt:lpstr>SPESE OPERATIVE </vt:lpstr>
      <vt:lpstr>POTENZA ELETTRICA GENERATA</vt:lpstr>
      <vt:lpstr>RISULTATI</vt:lpstr>
      <vt:lpstr>PRO E CONTRO</vt:lpstr>
      <vt:lpstr>CONCLUSIONI</vt:lpstr>
      <vt:lpstr>FINE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GIOELE MESSINA</dc:creator>
  <cp:lastModifiedBy>GIOELE MESSINA</cp:lastModifiedBy>
  <cp:revision>3</cp:revision>
  <dcterms:created xsi:type="dcterms:W3CDTF">2026-09-10T18:34:09Z</dcterms:created>
  <dcterms:modified xsi:type="dcterms:W3CDTF">2026-09-16T11:06:03Z</dcterms:modified>
</cp:coreProperties>
</file>